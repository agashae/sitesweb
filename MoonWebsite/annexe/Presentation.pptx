
<file path=[Content_Types].xml><?xml version="1.0" encoding="utf-8"?>
<Types xmlns="http://schemas.openxmlformats.org/package/2006/content-types"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23" r:id="rId1"/>
  </p:sldMasterIdLst>
  <p:sldIdLst>
    <p:sldId id="256" r:id="rId2"/>
    <p:sldId id="259" r:id="rId3"/>
    <p:sldId id="260" r:id="rId4"/>
    <p:sldId id="261" r:id="rId5"/>
    <p:sldId id="262" r:id="rId6"/>
    <p:sldId id="257" r:id="rId7"/>
    <p:sldId id="263" r:id="rId8"/>
    <p:sldId id="264" r:id="rId9"/>
    <p:sldId id="265" r:id="rId10"/>
    <p:sldId id="258" r:id="rId11"/>
    <p:sldId id="266" r:id="rId12"/>
  </p:sldIdLst>
  <p:sldSz cx="12192000" cy="6858000"/>
  <p:notesSz cx="6858000" cy="9144000"/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yle moyen 2 - Accentuation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5" d="100"/>
          <a:sy n="105" d="100"/>
        </p:scale>
        <p:origin x="798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Freeform: Shape 6">
            <a:extLst>
              <a:ext uri="{FF2B5EF4-FFF2-40B4-BE49-F238E27FC236}">
                <a16:creationId xmlns:a16="http://schemas.microsoft.com/office/drawing/2014/main" id="{EA67E988-5919-57BB-C7DE-D3EAD38A304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517870" y="6209925"/>
            <a:ext cx="11155680" cy="45719"/>
          </a:xfrm>
          <a:custGeom>
            <a:avLst/>
            <a:gdLst>
              <a:gd name="connsiteX0" fmla="*/ 0 w 8715708"/>
              <a:gd name="connsiteY0" fmla="*/ 0 h 45719"/>
              <a:gd name="connsiteX1" fmla="*/ 3694525 w 8715708"/>
              <a:gd name="connsiteY1" fmla="*/ 0 h 45719"/>
              <a:gd name="connsiteX2" fmla="*/ 5021183 w 8715708"/>
              <a:gd name="connsiteY2" fmla="*/ 0 h 45719"/>
              <a:gd name="connsiteX3" fmla="*/ 8715708 w 8715708"/>
              <a:gd name="connsiteY3" fmla="*/ 0 h 45719"/>
              <a:gd name="connsiteX4" fmla="*/ 8715708 w 8715708"/>
              <a:gd name="connsiteY4" fmla="*/ 45719 h 45719"/>
              <a:gd name="connsiteX5" fmla="*/ 5021183 w 8715708"/>
              <a:gd name="connsiteY5" fmla="*/ 45719 h 45719"/>
              <a:gd name="connsiteX6" fmla="*/ 3694525 w 8715708"/>
              <a:gd name="connsiteY6" fmla="*/ 45719 h 45719"/>
              <a:gd name="connsiteX7" fmla="*/ 0 w 8715708"/>
              <a:gd name="connsiteY7" fmla="*/ 45719 h 4571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8715708" h="45719">
                <a:moveTo>
                  <a:pt x="0" y="0"/>
                </a:moveTo>
                <a:lnTo>
                  <a:pt x="3694525" y="0"/>
                </a:lnTo>
                <a:lnTo>
                  <a:pt x="5021183" y="0"/>
                </a:lnTo>
                <a:lnTo>
                  <a:pt x="8715708" y="0"/>
                </a:lnTo>
                <a:lnTo>
                  <a:pt x="8715708" y="45719"/>
                </a:lnTo>
                <a:lnTo>
                  <a:pt x="5021183" y="45719"/>
                </a:lnTo>
                <a:lnTo>
                  <a:pt x="3694525" y="45719"/>
                </a:lnTo>
                <a:lnTo>
                  <a:pt x="0" y="45719"/>
                </a:lnTo>
                <a:close/>
              </a:path>
            </a:pathLst>
          </a:cu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B2327B2-BA4B-2C04-0751-5CB63D4AA42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21208" y="978408"/>
            <a:ext cx="11155680" cy="3429000"/>
          </a:xfrm>
        </p:spPr>
        <p:txBody>
          <a:bodyPr anchor="t">
            <a:normAutofit/>
          </a:bodyPr>
          <a:lstStyle>
            <a:lvl1pPr algn="l">
              <a:defRPr sz="72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7201176-DC7A-4C3D-3D8F-352526DA7B5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21208" y="4480560"/>
            <a:ext cx="7104888" cy="1399032"/>
          </a:xfrm>
        </p:spPr>
        <p:txBody>
          <a:bodyPr anchor="b">
            <a:normAutofit/>
          </a:bodyPr>
          <a:lstStyle>
            <a:lvl1pPr marL="0" indent="0" algn="l">
              <a:buNone/>
              <a:defRPr sz="2200" i="1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67DC221-9A2E-7459-102F-C3CFB27CC38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t>6/18/2026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5020671-6F7D-3A03-EEC1-661A87F96F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2453D3A-E0F9-8386-2A6C-96671FBB15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89070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A26D03-149A-DAB3-4B2A-E9B74F2E251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3C1E73D-41A7-9934-0990-9208B952329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8BB2A3F-E719-673C-5D56-F663712D0E7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t>6/18/2026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4AE594A-52F5-D85E-343C-ADFEE3C72E0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07D5C9C-B2E2-FC26-E459-9E880EF975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3175835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29D51F-B2D5-2804-4F7C-C99850FBD0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978408"/>
            <a:ext cx="5020056" cy="4288536"/>
          </a:xfrm>
        </p:spPr>
        <p:txBody>
          <a:bodyPr anchor="t">
            <a:normAutofit/>
          </a:bodyPr>
          <a:lstStyle>
            <a:lvl1pPr>
              <a:defRPr sz="5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5FE5516-03B6-C488-EB4A-68AE681EDFB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21208" y="5266944"/>
            <a:ext cx="5020056" cy="1088136"/>
          </a:xfrm>
        </p:spPr>
        <p:txBody>
          <a:bodyPr anchor="b">
            <a:normAutofit/>
          </a:bodyPr>
          <a:lstStyle>
            <a:lvl1pPr marL="0" indent="0">
              <a:buNone/>
              <a:defRPr sz="2200" i="1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0ECB4D7-49A7-D050-70B9-11A1E2D445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t>6/18/2026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A9A913F-AD00-C1EE-B01A-8590671C014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14FC386-B2AF-6FAD-D053-E22D48CD72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‹N°›</a:t>
            </a:fld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E1E1B67-3BFF-F04B-52F4-7E724FB3B24D}"/>
              </a:ext>
            </a:extLst>
          </p:cNvPr>
          <p:cNvSpPr/>
          <p:nvPr/>
        </p:nvSpPr>
        <p:spPr>
          <a:xfrm>
            <a:off x="517870" y="508090"/>
            <a:ext cx="5021183" cy="149279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4396989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CE3B21-CF4D-1B01-0F4E-D32C1B218B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FB39FF2-6858-B514-B695-58442557D0C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21208" y="2578608"/>
            <a:ext cx="5166360" cy="376732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FA30130-974D-B91D-5B93-EC52AABDB5B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519672" y="2578608"/>
            <a:ext cx="5166360" cy="376732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15BED99-6FD7-9C6B-1152-A6E42715BB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t>6/18/2026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A253AAC-5967-2565-A715-82D3505ABF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4B51313-69FB-E016-3CC1-62CA476ED2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5718862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B3DF9D-B849-CE37-97E4-AD37F880677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978408"/>
            <a:ext cx="11164824" cy="1216152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9D4C626-4008-960A-E601-6AA9F4BB8D8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21208" y="2340864"/>
            <a:ext cx="5166360" cy="658368"/>
          </a:xfrm>
        </p:spPr>
        <p:txBody>
          <a:bodyPr anchor="b">
            <a:normAutofit/>
          </a:bodyPr>
          <a:lstStyle>
            <a:lvl1pPr marL="0" indent="0">
              <a:buNone/>
              <a:defRPr sz="2200" b="0" i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06E8D6C-AC07-ED6B-2EA8-9C40A5AEA74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21208" y="3035808"/>
            <a:ext cx="5166360" cy="3310128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C52617E-C6D9-246B-E7B7-8159DF17C0A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519672" y="2340864"/>
            <a:ext cx="5166360" cy="658368"/>
          </a:xfrm>
        </p:spPr>
        <p:txBody>
          <a:bodyPr anchor="b">
            <a:normAutofit/>
          </a:bodyPr>
          <a:lstStyle>
            <a:lvl1pPr marL="0" indent="0">
              <a:buNone/>
              <a:defRPr sz="2200" b="0" i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DBC2094-7EBC-02C5-5AB5-233E63080A9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519672" y="3035808"/>
            <a:ext cx="5166360" cy="3310128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23010BD2-59B4-FD2E-3C5E-C83AE600398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t>6/18/2026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E72B35C4-A654-7759-BDA0-94D9D1A216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55F4347-2EC0-CA6E-2637-8048456D7E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4272942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34716D-52F2-C7FB-83B1-2DA1AD375E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6F4A371-AC27-6A28-32E6-74A28371BF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t>6/18/2026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155941A-A24E-885D-E894-0326F4C4004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9D5E5B4-971F-FF6A-1B07-A5C8537055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1825740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199F431F-E6DC-4137-3092-A30A0A3628E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t>6/18/2026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06AC814B-67B4-C70F-FA51-6205D5E2CB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1EAA9C9-D895-DD20-1089-EA75EA4289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5903536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B50562-884C-9053-70C1-3B72A0B45EA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978408"/>
            <a:ext cx="5020056" cy="2459736"/>
          </a:xfrm>
        </p:spPr>
        <p:txBody>
          <a:bodyPr anchor="t">
            <a:noAutofit/>
          </a:bodyPr>
          <a:lstStyle>
            <a:lvl1pPr>
              <a:defRPr sz="4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318F509-68F0-39D5-1A8B-CE246715AE4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519672" y="987424"/>
            <a:ext cx="5166360" cy="5358384"/>
          </a:xfrm>
        </p:spPr>
        <p:txBody>
          <a:bodyPr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158E37C-27CE-3A84-FC74-BDCCD8A9A3E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521208" y="3575304"/>
            <a:ext cx="5020056" cy="2770632"/>
          </a:xfrm>
        </p:spPr>
        <p:txBody>
          <a:bodyPr>
            <a:normAutofit/>
          </a:bodyPr>
          <a:lstStyle>
            <a:lvl1pPr marL="0" indent="0">
              <a:buNone/>
              <a:defRPr sz="2200" i="1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2A95F79-E23E-11D2-40BF-66ED340195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t>6/18/2026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457F7FC-06F3-3D89-5D1A-4EC4B1D735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554ACD5-6E0B-5713-DC9A-41E9D62AB1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279157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5B2D45-7CDB-D38C-2AAE-273F797674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978408"/>
            <a:ext cx="5020056" cy="2459736"/>
          </a:xfrm>
        </p:spPr>
        <p:txBody>
          <a:bodyPr anchor="t">
            <a:noAutofit/>
          </a:bodyPr>
          <a:lstStyle>
            <a:lvl1pPr>
              <a:defRPr sz="4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CCBF0855-1744-56E4-B115-3A3C5EA7834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6519672" y="987424"/>
            <a:ext cx="5166360" cy="5358384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85E8A1D-28AE-4A19-BD96-401D4822A53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521208" y="3575304"/>
            <a:ext cx="5020056" cy="2770632"/>
          </a:xfrm>
        </p:spPr>
        <p:txBody>
          <a:bodyPr>
            <a:normAutofit/>
          </a:bodyPr>
          <a:lstStyle>
            <a:lvl1pPr marL="0" indent="0">
              <a:buNone/>
              <a:defRPr sz="2200" i="1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7327DDB-CE95-4C89-DFC5-7DDBFC24E89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t>6/18/2026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522C835-F3B5-943C-FFC4-D5BA9666AF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8709891-6E3C-ADED-01DD-15FCED37AF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9941696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C36771-E72D-FAD8-771E-3E196DD2E1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B5BB827-257D-60D9-792F-E6959004297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CE5D2E7-C856-F78A-E88C-375474982A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t>6/18/2026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FDAB289-9591-51C9-9E3C-B6F2ACC6A6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7FE037C-790D-7442-8E43-D2740B3952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8506720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C2635151-A38B-3766-6A32-FF1DF7687D9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659368" y="978408"/>
            <a:ext cx="2551176" cy="5367528"/>
          </a:xfrm>
        </p:spPr>
        <p:txBody>
          <a:bodyPr vert="eaVert"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3D132D1-640C-FB9A-AD6F-D845738349F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521208" y="978408"/>
            <a:ext cx="8010144" cy="5367528"/>
          </a:xfrm>
        </p:spPr>
        <p:txBody>
          <a:bodyPr vert="eaVert"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955F80A-4BA7-8ED8-9A62-B9219427262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t>6/18/2026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5E38113-D55A-A1A0-D1FE-53C95860FB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8919DDB-F89D-4B2D-21A2-82AF1D1023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‹N°›</a:t>
            </a:fld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262572D8-D485-1DB1-34B1-C35C61C89940}"/>
              </a:ext>
            </a:extLst>
          </p:cNvPr>
          <p:cNvSpPr/>
          <p:nvPr/>
        </p:nvSpPr>
        <p:spPr>
          <a:xfrm rot="5400000">
            <a:off x="8936623" y="3585018"/>
            <a:ext cx="5325734" cy="149279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3365825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31A28D7-6581-4956-AAE3-9104804DF5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978408"/>
            <a:ext cx="11155680" cy="146304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3CFCCA4-57A4-08A1-FC45-D2BBA66FABF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21208" y="2578608"/>
            <a:ext cx="11155680" cy="376732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0FAA0F4-2442-8D45-3C3D-1B8F55C8683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521208" y="6419088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fld id="{E80C50CD-E178-4744-9B35-B2F624D6C5E9}" type="datetimeFigureOut">
              <a:rPr lang="en-US" smtClean="0"/>
              <a:pPr/>
              <a:t>6/18/2026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E03785E-FB42-1D54-92AC-D0A61A8FABD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21208" y="100584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CC9CF34-1274-DB45-4809-90E5D244A9A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57432" y="6419088"/>
            <a:ext cx="64008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/>
                </a:solidFill>
              </a:defRPr>
            </a:lvl1pPr>
          </a:lstStyle>
          <a:p>
            <a:fld id="{148CC95F-0247-41B6-91CF-DC97C76A7088}" type="slidenum">
              <a:rPr lang="en-US" smtClean="0"/>
              <a:pPr/>
              <a:t>‹N°›</a:t>
            </a:fld>
            <a:endParaRPr lang="en-US"/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774A975B-A886-5202-0489-6965514A0D1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517869" y="508090"/>
            <a:ext cx="11153214" cy="149279"/>
          </a:xfrm>
          <a:custGeom>
            <a:avLst/>
            <a:gdLst>
              <a:gd name="connsiteX0" fmla="*/ 0 w 8085002"/>
              <a:gd name="connsiteY0" fmla="*/ 0 h 149279"/>
              <a:gd name="connsiteX1" fmla="*/ 8085002 w 8085002"/>
              <a:gd name="connsiteY1" fmla="*/ 0 h 149279"/>
              <a:gd name="connsiteX2" fmla="*/ 8085002 w 8085002"/>
              <a:gd name="connsiteY2" fmla="*/ 149279 h 149279"/>
              <a:gd name="connsiteX3" fmla="*/ 0 w 8085002"/>
              <a:gd name="connsiteY3" fmla="*/ 149279 h 14927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8085002" h="149279">
                <a:moveTo>
                  <a:pt x="0" y="0"/>
                </a:moveTo>
                <a:lnTo>
                  <a:pt x="8085002" y="0"/>
                </a:lnTo>
                <a:lnTo>
                  <a:pt x="8085002" y="149279"/>
                </a:lnTo>
                <a:lnTo>
                  <a:pt x="0" y="149279"/>
                </a:lnTo>
                <a:close/>
              </a:path>
            </a:pathLst>
          </a:cu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6660386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18" r:id="rId1"/>
    <p:sldLayoutId id="2147483719" r:id="rId2"/>
    <p:sldLayoutId id="2147483720" r:id="rId3"/>
    <p:sldLayoutId id="2147483721" r:id="rId4"/>
    <p:sldLayoutId id="2147483722" r:id="rId5"/>
    <p:sldLayoutId id="2147483716" r:id="rId6"/>
    <p:sldLayoutId id="2147483712" r:id="rId7"/>
    <p:sldLayoutId id="2147483713" r:id="rId8"/>
    <p:sldLayoutId id="2147483714" r:id="rId9"/>
    <p:sldLayoutId id="2147483715" r:id="rId10"/>
    <p:sldLayoutId id="2147483717" r:id="rId11"/>
  </p:sldLayoutIdLst>
  <p:txStyles>
    <p:titleStyle>
      <a:lvl1pPr algn="l" defTabSz="914400" rtl="0" eaLnBrk="1" latinLnBrk="0" hangingPunct="1">
        <a:lnSpc>
          <a:spcPct val="100000"/>
        </a:lnSpc>
        <a:spcBef>
          <a:spcPct val="0"/>
        </a:spcBef>
        <a:buNone/>
        <a:defRPr sz="4400" b="1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10000"/>
        </a:lnSpc>
        <a:spcBef>
          <a:spcPts val="10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hyperlink" Target="https://create.kahoot.it/share/x-portesouvertes-bauchard-buzzer-quiz/13bce810-5c9e-422c-8d9d-d6591684c67d" TargetMode="Externa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5" name="Rectangle 34">
            <a:extLst>
              <a:ext uri="{FF2B5EF4-FFF2-40B4-BE49-F238E27FC236}">
                <a16:creationId xmlns:a16="http://schemas.microsoft.com/office/drawing/2014/main" id="{B7E2F724-2FB3-4D1D-A730-739B8654C03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-2"/>
            <a:ext cx="12192000" cy="6858001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18" name="Picture 3">
            <a:extLst>
              <a:ext uri="{FF2B5EF4-FFF2-40B4-BE49-F238E27FC236}">
                <a16:creationId xmlns:a16="http://schemas.microsoft.com/office/drawing/2014/main" id="{A867FE0F-5C8F-4DC7-D114-ED5E4AE2EDFF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40000"/>
          </a:blip>
          <a:srcRect t="5858"/>
          <a:stretch>
            <a:fillRect/>
          </a:stretch>
        </p:blipFill>
        <p:spPr>
          <a:xfrm>
            <a:off x="-2" y="-2"/>
            <a:ext cx="12192001" cy="6858001"/>
          </a:xfrm>
          <a:prstGeom prst="rect">
            <a:avLst/>
          </a:prstGeom>
        </p:spPr>
      </p:pic>
      <p:sp>
        <p:nvSpPr>
          <p:cNvPr id="2" name="Titre 1">
            <a:extLst>
              <a:ext uri="{FF2B5EF4-FFF2-40B4-BE49-F238E27FC236}">
                <a16:creationId xmlns:a16="http://schemas.microsoft.com/office/drawing/2014/main" id="{966243BD-8875-0056-FE12-4DBF2A07C0F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17870" y="978407"/>
            <a:ext cx="9055898" cy="3290107"/>
          </a:xfrm>
        </p:spPr>
        <p:txBody>
          <a:bodyPr anchor="t">
            <a:normAutofit/>
          </a:bodyPr>
          <a:lstStyle/>
          <a:p>
            <a:r>
              <a:rPr lang="fr-CH" sz="4700" b="1" dirty="0">
                <a:solidFill>
                  <a:srgbClr val="FFFFFF"/>
                </a:solidFill>
              </a:rPr>
              <a:t>DemoMot</a:t>
            </a:r>
            <a:r>
              <a:rPr lang="fr-CH" sz="4700" dirty="0">
                <a:solidFill>
                  <a:srgbClr val="FFFFFF"/>
                </a:solidFill>
              </a:rPr>
              <a:t>/Portes Ouvertes</a:t>
            </a:r>
            <a:r>
              <a:rPr lang="fr-CH" sz="4700" b="1" dirty="0">
                <a:solidFill>
                  <a:srgbClr val="FFFFFF"/>
                </a:solidFill>
              </a:rPr>
              <a:t> 2025-2026</a:t>
            </a:r>
            <a:endParaRPr lang="fr-CH" sz="4700" dirty="0">
              <a:solidFill>
                <a:srgbClr val="FFFFFF"/>
              </a:solidFill>
            </a:endParaRP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ACE53596-B080-A0D7-1608-ADEB88BFD01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17870" y="4482450"/>
            <a:ext cx="5040785" cy="1724029"/>
          </a:xfrm>
        </p:spPr>
        <p:txBody>
          <a:bodyPr anchor="t">
            <a:normAutofit/>
          </a:bodyPr>
          <a:lstStyle/>
          <a:p>
            <a:r>
              <a:rPr lang="fr-CH" sz="2400">
                <a:solidFill>
                  <a:srgbClr val="FFFFFF"/>
                </a:solidFill>
              </a:rPr>
              <a:t>Agashae Premakumar</a:t>
            </a:r>
          </a:p>
          <a:p>
            <a:r>
              <a:rPr lang="fr-CH" sz="2400">
                <a:solidFill>
                  <a:srgbClr val="FFFFFF"/>
                </a:solidFill>
              </a:rPr>
              <a:t>CIN1D</a:t>
            </a:r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B2C335F7-F61C-4EB4-80F2-4B1438FE66B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17870" y="508090"/>
            <a:ext cx="5021183" cy="14927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68151162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2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2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 build="p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BD894843-3D1F-45BD-DF89-B0EE380FC9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CH" dirty="0"/>
              <a:t>Buzzer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02FC0054-0C20-4F7D-DF95-8DDE257CBAF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CH" dirty="0"/>
              <a:t>Aider à la création du </a:t>
            </a:r>
            <a:r>
              <a:rPr lang="fr-CH" dirty="0" err="1"/>
              <a:t>Kahoot</a:t>
            </a:r>
            <a:r>
              <a:rPr lang="fr-CH" dirty="0"/>
              <a:t> avec Liam Bauchard : </a:t>
            </a:r>
            <a:r>
              <a:rPr lang="fr-CH" dirty="0">
                <a:hlinkClick r:id="rId2"/>
              </a:rPr>
              <a:t>https://create.kahoot.it/share/x-portesouvertes-bauchard-buzzer-quiz/13bce810-5c9e-422c-8d9d-d6591684c67d</a:t>
            </a:r>
            <a:endParaRPr lang="fr-CH" dirty="0"/>
          </a:p>
          <a:p>
            <a:endParaRPr lang="fr-CH" dirty="0"/>
          </a:p>
        </p:txBody>
      </p:sp>
    </p:spTree>
    <p:extLst>
      <p:ext uri="{BB962C8B-B14F-4D97-AF65-F5344CB8AC3E}">
        <p14:creationId xmlns:p14="http://schemas.microsoft.com/office/powerpoint/2010/main" val="31733501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F6DAD9EE-4B23-643B-4DC1-F77898C6BF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CH" dirty="0"/>
              <a:t>Cadavre Exquis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B85C1AD1-F3F2-AE6A-95A3-A307D8511D1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CH" dirty="0"/>
              <a:t>Aider à la création du fichier Word d’aide au code avec Noah</a:t>
            </a:r>
          </a:p>
        </p:txBody>
      </p:sp>
    </p:spTree>
    <p:extLst>
      <p:ext uri="{BB962C8B-B14F-4D97-AF65-F5344CB8AC3E}">
        <p14:creationId xmlns:p14="http://schemas.microsoft.com/office/powerpoint/2010/main" val="26139594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969C35A0-150C-6CDA-942E-F691CBDACD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CH" dirty="0"/>
              <a:t>Imposteur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2FA53BE3-7655-4799-6A30-70C3111FC1E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CH" dirty="0"/>
              <a:t>Création du CdC </a:t>
            </a:r>
          </a:p>
          <a:p>
            <a:r>
              <a:rPr lang="fr-CH" dirty="0"/>
              <a:t>Création de la banque à questions</a:t>
            </a:r>
          </a:p>
        </p:txBody>
      </p:sp>
    </p:spTree>
    <p:extLst>
      <p:ext uri="{BB962C8B-B14F-4D97-AF65-F5344CB8AC3E}">
        <p14:creationId xmlns:p14="http://schemas.microsoft.com/office/powerpoint/2010/main" val="173463128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4751B5CA-B9A9-A6CE-2C2A-398EB24CEB6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CH" dirty="0"/>
              <a:t>Annexes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81B232AB-9118-A383-95D2-48DDE10CC52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CH" dirty="0"/>
              <a:t>Création du fichier pour le matériels nécessaires </a:t>
            </a:r>
          </a:p>
          <a:p>
            <a:r>
              <a:rPr lang="fr-CH" dirty="0"/>
              <a:t>Création du fichier avec le retour de M. Sahli</a:t>
            </a:r>
          </a:p>
        </p:txBody>
      </p:sp>
    </p:spTree>
    <p:extLst>
      <p:ext uri="{BB962C8B-B14F-4D97-AF65-F5344CB8AC3E}">
        <p14:creationId xmlns:p14="http://schemas.microsoft.com/office/powerpoint/2010/main" val="7848714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Freeform: Shape 9">
            <a:extLst>
              <a:ext uri="{FF2B5EF4-FFF2-40B4-BE49-F238E27FC236}">
                <a16:creationId xmlns:a16="http://schemas.microsoft.com/office/drawing/2014/main" id="{774A975B-A886-5202-0489-6965514A0D1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17869" y="508090"/>
            <a:ext cx="11153214" cy="149279"/>
          </a:xfrm>
          <a:custGeom>
            <a:avLst/>
            <a:gdLst>
              <a:gd name="connsiteX0" fmla="*/ 0 w 8085002"/>
              <a:gd name="connsiteY0" fmla="*/ 0 h 149279"/>
              <a:gd name="connsiteX1" fmla="*/ 8085002 w 8085002"/>
              <a:gd name="connsiteY1" fmla="*/ 0 h 149279"/>
              <a:gd name="connsiteX2" fmla="*/ 8085002 w 8085002"/>
              <a:gd name="connsiteY2" fmla="*/ 149279 h 149279"/>
              <a:gd name="connsiteX3" fmla="*/ 0 w 8085002"/>
              <a:gd name="connsiteY3" fmla="*/ 149279 h 14927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8085002" h="149279">
                <a:moveTo>
                  <a:pt x="0" y="0"/>
                </a:moveTo>
                <a:lnTo>
                  <a:pt x="8085002" y="0"/>
                </a:lnTo>
                <a:lnTo>
                  <a:pt x="8085002" y="149279"/>
                </a:lnTo>
                <a:lnTo>
                  <a:pt x="0" y="149279"/>
                </a:lnTo>
                <a:close/>
              </a:path>
            </a:pathLst>
          </a:cu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21" name="Freeform: Shape 11">
            <a:extLst>
              <a:ext uri="{FF2B5EF4-FFF2-40B4-BE49-F238E27FC236}">
                <a16:creationId xmlns:a16="http://schemas.microsoft.com/office/drawing/2014/main" id="{EA67E988-5919-57BB-C7DE-D3EAD38A304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17870" y="6209925"/>
            <a:ext cx="11155680" cy="45719"/>
          </a:xfrm>
          <a:custGeom>
            <a:avLst/>
            <a:gdLst/>
            <a:ahLst/>
            <a:cxnLst/>
            <a:rect l="l" t="t" r="r" b="b"/>
            <a:pathLst>
              <a:path w="8715708" h="45719">
                <a:moveTo>
                  <a:pt x="0" y="0"/>
                </a:moveTo>
                <a:lnTo>
                  <a:pt x="3694525" y="0"/>
                </a:lnTo>
                <a:lnTo>
                  <a:pt x="5021183" y="0"/>
                </a:lnTo>
                <a:lnTo>
                  <a:pt x="8715708" y="0"/>
                </a:lnTo>
                <a:lnTo>
                  <a:pt x="8715708" y="45719"/>
                </a:lnTo>
                <a:lnTo>
                  <a:pt x="5021183" y="45719"/>
                </a:lnTo>
                <a:lnTo>
                  <a:pt x="3694525" y="45719"/>
                </a:lnTo>
                <a:lnTo>
                  <a:pt x="0" y="45719"/>
                </a:lnTo>
                <a:close/>
              </a:path>
            </a:pathLst>
          </a:cu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0EECA69B-4C2A-7F31-8019-E90DB3BD49C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Bierstadt"/>
              <a:ea typeface="+mn-ea"/>
              <a:cs typeface="+mn-cs"/>
            </a:endParaRPr>
          </a:p>
        </p:txBody>
      </p:sp>
      <p:pic>
        <p:nvPicPr>
          <p:cNvPr id="5" name="Espace réservé du contenu 4">
            <a:extLst>
              <a:ext uri="{FF2B5EF4-FFF2-40B4-BE49-F238E27FC236}">
                <a16:creationId xmlns:a16="http://schemas.microsoft.com/office/drawing/2014/main" id="{97DEAC92-ADF9-6A1D-98C0-0E77062EEC45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484" t="1615" b="18194"/>
          <a:stretch>
            <a:fillRect/>
          </a:stretch>
        </p:blipFill>
        <p:spPr>
          <a:xfrm>
            <a:off x="20" y="10"/>
            <a:ext cx="12191980" cy="6857990"/>
          </a:xfrm>
          <a:prstGeom prst="rect">
            <a:avLst/>
          </a:prstGeom>
        </p:spPr>
      </p:pic>
      <p:sp>
        <p:nvSpPr>
          <p:cNvPr id="23" name="Rectangle 22">
            <a:extLst>
              <a:ext uri="{FF2B5EF4-FFF2-40B4-BE49-F238E27FC236}">
                <a16:creationId xmlns:a16="http://schemas.microsoft.com/office/drawing/2014/main" id="{857DEAC1-B3AA-6569-0A44-A191DF2F3C6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5577840"/>
            <a:ext cx="12191999" cy="1280160"/>
          </a:xfrm>
          <a:prstGeom prst="rect">
            <a:avLst/>
          </a:prstGeom>
          <a:solidFill>
            <a:schemeClr val="bg1">
              <a:alpha val="28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Bierstadt"/>
              <a:ea typeface="+mn-ea"/>
              <a:cs typeface="+mn-cs"/>
            </a:endParaRPr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5533CF7B-BA68-278B-A783-54828C4176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0039" y="5731580"/>
            <a:ext cx="11686033" cy="980116"/>
          </a:xfrm>
          <a:ln>
            <a:noFill/>
          </a:ln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fr-CH" dirty="0"/>
              <a:t>Projet DemoMot 2025-2026</a:t>
            </a:r>
          </a:p>
        </p:txBody>
      </p:sp>
    </p:spTree>
    <p:extLst>
      <p:ext uri="{BB962C8B-B14F-4D97-AF65-F5344CB8AC3E}">
        <p14:creationId xmlns:p14="http://schemas.microsoft.com/office/powerpoint/2010/main" val="1444886072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523419E0-15C6-46E7-70B2-34653D7776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CH" dirty="0"/>
              <a:t>Pourquoi ce projet ?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14088F4B-426E-9596-B618-28846F9E387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CH" b="1" dirty="0"/>
              <a:t>Éduquer par l'Espace</a:t>
            </a:r>
          </a:p>
          <a:p>
            <a:pPr lvl="1"/>
            <a:r>
              <a:rPr lang="fr-CH" dirty="0"/>
              <a:t>AgaMoon est un site web éducatif dédié à la Lune. </a:t>
            </a:r>
          </a:p>
          <a:p>
            <a:pPr lvl="1"/>
            <a:r>
              <a:rPr lang="fr-CH" dirty="0"/>
              <a:t>Le projet explore quatre piliers : les données physiques, les phases lunaires, l'histoire de l'exploration et une galerie de photos authentiques.</a:t>
            </a:r>
          </a:p>
          <a:p>
            <a:r>
              <a:rPr lang="fr-CH" b="1" dirty="0"/>
              <a:t>Langages &amp; Standards</a:t>
            </a:r>
          </a:p>
          <a:p>
            <a:r>
              <a:rPr lang="fr-CH" dirty="0"/>
              <a:t>Développement pur en </a:t>
            </a:r>
            <a:r>
              <a:rPr lang="fr-CH" b="1" dirty="0"/>
              <a:t>HTML5</a:t>
            </a:r>
            <a:r>
              <a:rPr lang="fr-CH" dirty="0"/>
              <a:t> et </a:t>
            </a:r>
            <a:r>
              <a:rPr lang="fr-CH" b="1" dirty="0"/>
              <a:t>CSS3</a:t>
            </a:r>
            <a:r>
              <a:rPr lang="fr-CH" dirty="0"/>
              <a:t> pour garantir une structure sémantique et un design moderne et responsive.</a:t>
            </a:r>
          </a:p>
          <a:p>
            <a:r>
              <a:rPr lang="fr-CH" b="1" dirty="0"/>
              <a:t>Environnement</a:t>
            </a:r>
          </a:p>
          <a:p>
            <a:r>
              <a:rPr lang="fr-CH" dirty="0"/>
              <a:t>Utilisation de </a:t>
            </a:r>
            <a:r>
              <a:rPr lang="fr-CH" b="1" dirty="0"/>
              <a:t>Visual Studio Code</a:t>
            </a:r>
            <a:r>
              <a:rPr lang="fr-CH" dirty="0"/>
              <a:t> comme IDE principal, optimisé pour un workflow fluide entre le code et le rendu navigateur.</a:t>
            </a:r>
          </a:p>
        </p:txBody>
      </p:sp>
    </p:spTree>
    <p:extLst>
      <p:ext uri="{BB962C8B-B14F-4D97-AF65-F5344CB8AC3E}">
        <p14:creationId xmlns:p14="http://schemas.microsoft.com/office/powerpoint/2010/main" val="335384110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39CDB58D-7818-6269-97FE-DB12D816E3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CH" dirty="0"/>
              <a:t>Cahier des charges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1173D744-E38A-8D6D-6C85-1B94E33E832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CH" b="1" dirty="0"/>
              <a:t>Données Scientifiques :</a:t>
            </a:r>
            <a:r>
              <a:rPr lang="fr-CH" dirty="0"/>
              <a:t> Affichage d'informations générales précises sur la Lune.</a:t>
            </a:r>
          </a:p>
          <a:p>
            <a:r>
              <a:rPr lang="fr-CH" b="1" dirty="0"/>
              <a:t>Cycle Lunaire :</a:t>
            </a:r>
            <a:r>
              <a:rPr lang="fr-CH" dirty="0"/>
              <a:t> Présentation des huit phases avec illustrations dédiées.</a:t>
            </a:r>
          </a:p>
          <a:p>
            <a:r>
              <a:rPr lang="fr-CH" b="1" dirty="0"/>
              <a:t>Galerie Visuelle :</a:t>
            </a:r>
            <a:r>
              <a:rPr lang="fr-CH" dirty="0"/>
              <a:t> Mise à disposition d'une banque d'images astronomiques.</a:t>
            </a:r>
          </a:p>
          <a:p>
            <a:r>
              <a:rPr lang="fr-CH" b="1" dirty="0"/>
              <a:t>UX Intuitive :</a:t>
            </a:r>
            <a:r>
              <a:rPr lang="fr-CH" dirty="0"/>
              <a:t> Navigation simple et fluide sur une seule page (Single Page).</a:t>
            </a:r>
          </a:p>
          <a:p>
            <a:r>
              <a:rPr lang="fr-CH" b="1" dirty="0"/>
              <a:t>Adaptabilité :</a:t>
            </a:r>
            <a:r>
              <a:rPr lang="fr-CH" dirty="0"/>
              <a:t> Design 100% responsive pour tous types d'écrans.</a:t>
            </a:r>
          </a:p>
          <a:p>
            <a:endParaRPr lang="fr-CH" dirty="0"/>
          </a:p>
        </p:txBody>
      </p:sp>
    </p:spTree>
    <p:extLst>
      <p:ext uri="{BB962C8B-B14F-4D97-AF65-F5344CB8AC3E}">
        <p14:creationId xmlns:p14="http://schemas.microsoft.com/office/powerpoint/2010/main" val="10207446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D0AE247B-784E-CA2F-2D02-4273E44492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fr-CH" b="0" dirty="0"/>
              <a:t>Extrait du Journal de Travail</a:t>
            </a:r>
            <a:br>
              <a:rPr lang="fr-CH" b="0" dirty="0"/>
            </a:br>
            <a:br>
              <a:rPr lang="fr-CH" dirty="0"/>
            </a:br>
            <a:endParaRPr lang="fr-CH" dirty="0"/>
          </a:p>
        </p:txBody>
      </p:sp>
    </p:spTree>
    <p:extLst>
      <p:ext uri="{BB962C8B-B14F-4D97-AF65-F5344CB8AC3E}">
        <p14:creationId xmlns:p14="http://schemas.microsoft.com/office/powerpoint/2010/main" val="68414498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Freeform: Shape 8">
            <a:extLst>
              <a:ext uri="{FF2B5EF4-FFF2-40B4-BE49-F238E27FC236}">
                <a16:creationId xmlns:a16="http://schemas.microsoft.com/office/drawing/2014/main" id="{774A975B-A886-5202-0489-6965514A0D1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17869" y="508090"/>
            <a:ext cx="11153214" cy="149279"/>
          </a:xfrm>
          <a:custGeom>
            <a:avLst/>
            <a:gdLst>
              <a:gd name="connsiteX0" fmla="*/ 0 w 8085002"/>
              <a:gd name="connsiteY0" fmla="*/ 0 h 149279"/>
              <a:gd name="connsiteX1" fmla="*/ 8085002 w 8085002"/>
              <a:gd name="connsiteY1" fmla="*/ 0 h 149279"/>
              <a:gd name="connsiteX2" fmla="*/ 8085002 w 8085002"/>
              <a:gd name="connsiteY2" fmla="*/ 149279 h 149279"/>
              <a:gd name="connsiteX3" fmla="*/ 0 w 8085002"/>
              <a:gd name="connsiteY3" fmla="*/ 149279 h 14927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8085002" h="149279">
                <a:moveTo>
                  <a:pt x="0" y="0"/>
                </a:moveTo>
                <a:lnTo>
                  <a:pt x="8085002" y="0"/>
                </a:lnTo>
                <a:lnTo>
                  <a:pt x="8085002" y="149279"/>
                </a:lnTo>
                <a:lnTo>
                  <a:pt x="0" y="149279"/>
                </a:lnTo>
                <a:close/>
              </a:path>
            </a:pathLst>
          </a:cu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EA67E988-5919-57BB-C7DE-D3EAD38A304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17870" y="6209925"/>
            <a:ext cx="11155680" cy="45719"/>
          </a:xfrm>
          <a:custGeom>
            <a:avLst/>
            <a:gdLst/>
            <a:ahLst/>
            <a:cxnLst/>
            <a:rect l="l" t="t" r="r" b="b"/>
            <a:pathLst>
              <a:path w="8715708" h="45719">
                <a:moveTo>
                  <a:pt x="0" y="0"/>
                </a:moveTo>
                <a:lnTo>
                  <a:pt x="3694525" y="0"/>
                </a:lnTo>
                <a:lnTo>
                  <a:pt x="5021183" y="0"/>
                </a:lnTo>
                <a:lnTo>
                  <a:pt x="8715708" y="0"/>
                </a:lnTo>
                <a:lnTo>
                  <a:pt x="8715708" y="45719"/>
                </a:lnTo>
                <a:lnTo>
                  <a:pt x="5021183" y="45719"/>
                </a:lnTo>
                <a:lnTo>
                  <a:pt x="3694525" y="45719"/>
                </a:lnTo>
                <a:lnTo>
                  <a:pt x="0" y="45719"/>
                </a:lnTo>
                <a:close/>
              </a:path>
            </a:pathLst>
          </a:cu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 useBgFill="1">
        <p:nvSpPr>
          <p:cNvPr id="13" name="Rectangle 12">
            <a:extLst>
              <a:ext uri="{FF2B5EF4-FFF2-40B4-BE49-F238E27FC236}">
                <a16:creationId xmlns:a16="http://schemas.microsoft.com/office/drawing/2014/main" id="{E20BB609-EF92-42DB-836C-0699A590B5C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1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27C1362-236A-6BAD-A329-94810AF9A7F0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25"/>
          <a:stretch>
            <a:fillRect/>
          </a:stretch>
        </p:blipFill>
        <p:spPr>
          <a:xfrm>
            <a:off x="20" y="10"/>
            <a:ext cx="12188932" cy="6857990"/>
          </a:xfrm>
          <a:prstGeom prst="rect">
            <a:avLst/>
          </a:prstGeom>
        </p:spPr>
      </p:pic>
      <p:sp>
        <p:nvSpPr>
          <p:cNvPr id="15" name="Rectangle 14">
            <a:extLst>
              <a:ext uri="{FF2B5EF4-FFF2-40B4-BE49-F238E27FC236}">
                <a16:creationId xmlns:a16="http://schemas.microsoft.com/office/drawing/2014/main" id="{637992A9-1E8C-4E57-B4F4-EE2D38E504A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>
            <a:off x="389239" y="-389238"/>
            <a:ext cx="6858000" cy="7636476"/>
          </a:xfrm>
          <a:prstGeom prst="rect">
            <a:avLst/>
          </a:prstGeom>
          <a:gradFill>
            <a:gsLst>
              <a:gs pos="100000">
                <a:srgbClr val="000000">
                  <a:alpha val="0"/>
                </a:srgbClr>
              </a:gs>
              <a:gs pos="0">
                <a:schemeClr val="tx1"/>
              </a:gs>
              <a:gs pos="0">
                <a:srgbClr val="000000">
                  <a:alpha val="70000"/>
                </a:srgbClr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E34E0744-9D9A-00B0-9E8E-D0320984E3F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7870" y="978407"/>
            <a:ext cx="5021182" cy="3309511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sz="6000">
                <a:solidFill>
                  <a:srgbClr val="FFFFFF"/>
                </a:solidFill>
              </a:rPr>
              <a:t>AstroLab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0C44115A-CC4B-00F3-04DA-D24F28C4E5E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7870" y="4482450"/>
            <a:ext cx="5040785" cy="1724029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>
              <a:buNone/>
            </a:pPr>
            <a:r>
              <a:rPr lang="en-US" sz="2200" i="1" kern="1200">
                <a:solidFill>
                  <a:srgbClr val="FFFFFF"/>
                </a:solidFill>
                <a:latin typeface="+mn-lt"/>
                <a:ea typeface="+mn-ea"/>
                <a:cs typeface="+mn-cs"/>
              </a:rPr>
              <a:t>Projet en python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B2C335F7-F61C-4EB4-80F2-4B1438FE66B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17870" y="508090"/>
            <a:ext cx="5021183" cy="14927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32870440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0CD193FF-2B7B-BC23-F6D7-D46536517D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CH" dirty="0"/>
              <a:t>Pourquoi ce projet ?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E1121C98-EC16-3C52-8342-E449BCD3F20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CH" dirty="0"/>
              <a:t>Apprendre un nouveau langage : Python</a:t>
            </a:r>
          </a:p>
          <a:p>
            <a:r>
              <a:rPr lang="fr-CH" dirty="0"/>
              <a:t>Faire un projet avec des calculs</a:t>
            </a:r>
          </a:p>
        </p:txBody>
      </p:sp>
    </p:spTree>
    <p:extLst>
      <p:ext uri="{BB962C8B-B14F-4D97-AF65-F5344CB8AC3E}">
        <p14:creationId xmlns:p14="http://schemas.microsoft.com/office/powerpoint/2010/main" val="3658721233"/>
      </p:ext>
    </p:extLst>
  </p:cSld>
  <p:clrMapOvr>
    <a:masterClrMapping/>
  </p:clrMapOvr>
</p:sld>
</file>

<file path=ppt/theme/theme1.xml><?xml version="1.0" encoding="utf-8"?>
<a:theme xmlns:a="http://schemas.openxmlformats.org/drawingml/2006/main" name="GestaltVTI">
  <a:themeElements>
    <a:clrScheme name="Gestalt">
      <a:dk1>
        <a:srgbClr val="000000"/>
      </a:dk1>
      <a:lt1>
        <a:sysClr val="window" lastClr="FFFFFF"/>
      </a:lt1>
      <a:dk2>
        <a:srgbClr val="262626"/>
      </a:dk2>
      <a:lt2>
        <a:srgbClr val="F7F7F7"/>
      </a:lt2>
      <a:accent1>
        <a:srgbClr val="EBA000"/>
      </a:accent1>
      <a:accent2>
        <a:srgbClr val="00BAC8"/>
      </a:accent2>
      <a:accent3>
        <a:srgbClr val="E64823"/>
      </a:accent3>
      <a:accent4>
        <a:srgbClr val="4D5AFF"/>
      </a:accent4>
      <a:accent5>
        <a:srgbClr val="FE5D21"/>
      </a:accent5>
      <a:accent6>
        <a:srgbClr val="00C777"/>
      </a:accent6>
      <a:hlink>
        <a:srgbClr val="2998E3"/>
      </a:hlink>
      <a:folHlink>
        <a:srgbClr val="939393"/>
      </a:folHlink>
    </a:clrScheme>
    <a:fontScheme name="Gestalt">
      <a:majorFont>
        <a:latin typeface="Bierstadt"/>
        <a:ea typeface=""/>
        <a:cs typeface=""/>
      </a:majorFont>
      <a:minorFont>
        <a:latin typeface="Bierstadt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GestaltVTI" id="{4F87C71D-53D1-4B71-BF97-FD0EA4B25665}" vid="{A110AFC4-8D8A-4C02-8885-7BA370B379B5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200</TotalTime>
  <Words>252</Words>
  <Application>Microsoft Office PowerPoint</Application>
  <PresentationFormat>Grand écran</PresentationFormat>
  <Paragraphs>34</Paragraphs>
  <Slides>11</Slides>
  <Notes>0</Notes>
  <HiddenSlides>0</HiddenSlides>
  <MMClips>0</MMClips>
  <ScaleCrop>false</ScaleCrop>
  <HeadingPairs>
    <vt:vector size="6" baseType="variant">
      <vt:variant>
        <vt:lpstr>Polices utilisées</vt:lpstr>
      </vt:variant>
      <vt:variant>
        <vt:i4>2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11</vt:i4>
      </vt:variant>
    </vt:vector>
  </HeadingPairs>
  <TitlesOfParts>
    <vt:vector size="14" baseType="lpstr">
      <vt:lpstr>Arial</vt:lpstr>
      <vt:lpstr>Bierstadt</vt:lpstr>
      <vt:lpstr>GestaltVTI</vt:lpstr>
      <vt:lpstr>DemoMot/Portes Ouvertes 2025-2026</vt:lpstr>
      <vt:lpstr>Buzzer</vt:lpstr>
      <vt:lpstr>Cadavre Exquis</vt:lpstr>
      <vt:lpstr>Imposteur</vt:lpstr>
      <vt:lpstr>Annexes</vt:lpstr>
      <vt:lpstr>Projet DemoMot 2025-2026</vt:lpstr>
      <vt:lpstr>Pourquoi ce projet ?</vt:lpstr>
      <vt:lpstr>Cahier des charges</vt:lpstr>
      <vt:lpstr>Extrait du Journal de Travail  </vt:lpstr>
      <vt:lpstr>AstroLab</vt:lpstr>
      <vt:lpstr>Pourquoi ce projet ?</vt:lpstr>
    </vt:vector>
  </TitlesOfParts>
  <Company>DGEP - Etat de Vaud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Agashae Premakumar</dc:creator>
  <cp:lastModifiedBy>Agashae Premakumar</cp:lastModifiedBy>
  <cp:revision>20</cp:revision>
  <dcterms:created xsi:type="dcterms:W3CDTF">2026-06-17T10:30:51Z</dcterms:created>
  <dcterms:modified xsi:type="dcterms:W3CDTF">2026-06-18T13:43:17Z</dcterms:modified>
</cp:coreProperties>
</file>